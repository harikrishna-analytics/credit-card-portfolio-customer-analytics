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Credit Card Portfolio</a:t>
            </a:r>
            <a:br/>
            <a:r>
              <a:t>&amp; Customer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BCD4"/>
                </a:solidFill>
              </a:defRPr>
            </a:pPr>
            <a:r>
              <a:t>End-to-End Data Analytics Project using SQL &amp; Tableau</a:t>
            </a:r>
            <a:br/>
            <a:br/>
            <a:r>
              <a:t>Customer Analytics | Card Portfolio | Credit Exposure | Business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How I Built This Project:</a:t>
            </a:r>
            <a:br/>
            <a:r>
              <a:t>SQL → Tableau →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0849"/>
            <a:ext cx="9144000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381" y="-26055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dirty="0"/>
              <a:t>End-to-End 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9144000" cy="673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>
              <a:spcBef>
                <a:spcPts val="6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STEP 1: Data Source</a:t>
            </a:r>
          </a:p>
          <a:p>
            <a:pPr lvl="1"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Cards CSV (32,457 rows, 11 columns) → Customer ID, Card Type, Card Network, Credit Limit, Card Status, Contactless, Card Mode, Issue Date, Expiry Date</a:t>
            </a:r>
          </a:p>
          <a:p>
            <a:pPr>
              <a:spcBef>
                <a:spcPts val="6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STEP 2: SQL Data Validation</a:t>
            </a:r>
          </a:p>
          <a:p>
            <a:pPr lvl="1"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PostgreSQL queries to check NULL values, duplicates, data types, invalid values, and card-customer relationships</a:t>
            </a:r>
          </a:p>
          <a:p>
            <a:pPr>
              <a:spcBef>
                <a:spcPts val="6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STEP 3: SQL Data Preparation</a:t>
            </a:r>
          </a:p>
          <a:p>
            <a:pPr lvl="1"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Standardize text (LOWER, TRIM), extract dates (YEAR, MONTH), create derived fields, build analytical tables</a:t>
            </a:r>
          </a:p>
          <a:p>
            <a:pPr>
              <a:spcBef>
                <a:spcPts val="6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STEP 4: SQL Business Analysis</a:t>
            </a:r>
          </a:p>
          <a:p>
            <a:pPr lvl="1"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Write 25+ SQL queries using GROUP BY, CASE, CTEs, window functions (LAG, RANK) to answer business questions</a:t>
            </a:r>
          </a:p>
          <a:p>
            <a:pPr>
              <a:spcBef>
                <a:spcPts val="6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STEP 5: Create Analytical Dataset</a:t>
            </a:r>
          </a:p>
          <a:p>
            <a:pPr lvl="1"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Export cleaned, validated, analysis-ready dataset from SQL for Tableau</a:t>
            </a:r>
          </a:p>
          <a:p>
            <a:pPr>
              <a:spcBef>
                <a:spcPts val="6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STEP 6: Build Tableau Dashboards</a:t>
            </a:r>
          </a:p>
          <a:p>
            <a:pPr lvl="1"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Import CSV → Create calculated fields → Build LOD expressions → Design 4-page interactive dashboard</a:t>
            </a:r>
          </a:p>
          <a:p>
            <a:pPr>
              <a:spcBef>
                <a:spcPts val="6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STEP 7: Dashboard Insights</a:t>
            </a:r>
          </a:p>
          <a:p>
            <a:pPr lvl="1"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Analyze dashboard outputs → Identify patterns (concentration, adoption, churn) → Extract business findings</a:t>
            </a:r>
          </a:p>
          <a:p>
            <a:pPr>
              <a:spcBef>
                <a:spcPts val="6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STEP 8: Recommendations</a:t>
            </a:r>
          </a:p>
          <a:p>
            <a:pPr lvl="1">
              <a:spcAft>
                <a:spcPts val="4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Convert insights into actionable business strategies with timelines and ownership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sz="3200" dirty="0"/>
              <a:t>Step 2-4: SQL Data Validation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074509"/>
            <a:ext cx="9143999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55"/>
                </a:solidFill>
              </a:defRPr>
            </a:pPr>
            <a:endParaRPr lang="en-IN" sz="2000" dirty="0"/>
          </a:p>
          <a:p>
            <a:pPr>
              <a:defRPr sz="1600" b="1">
                <a:solidFill>
                  <a:srgbClr val="192D55"/>
                </a:solidFill>
              </a:defRPr>
            </a:pPr>
            <a:endParaRPr lang="en-IN" sz="2000" dirty="0"/>
          </a:p>
          <a:p>
            <a:pPr>
              <a:defRPr sz="1600" b="1">
                <a:solidFill>
                  <a:srgbClr val="192D55"/>
                </a:solidFill>
              </a:defRPr>
            </a:pPr>
            <a:r>
              <a:rPr sz="2000" dirty="0"/>
              <a:t>Data Quality Checks (SQL)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NULL detection: Checked all 11 columns for missing values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Duplicate check: Verified car</a:t>
            </a:r>
            <a:r>
              <a:rPr lang="en-IN" sz="2000" dirty="0"/>
              <a:t>d</a:t>
            </a:r>
            <a:r>
              <a:rPr sz="2000" dirty="0"/>
              <a:t>_id uniqueness (32,457 unique cards confirmed)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Data type validation: Ensured </a:t>
            </a:r>
            <a:r>
              <a:rPr lang="en-IN" sz="2000" dirty="0"/>
              <a:t>c</a:t>
            </a:r>
            <a:r>
              <a:rPr sz="2000" dirty="0"/>
              <a:t>r</a:t>
            </a:r>
            <a:r>
              <a:rPr lang="en-IN" sz="2000" dirty="0"/>
              <a:t>e</a:t>
            </a:r>
            <a:r>
              <a:rPr sz="2000" dirty="0"/>
              <a:t>di</a:t>
            </a:r>
            <a:r>
              <a:rPr lang="en-IN" sz="2000" dirty="0"/>
              <a:t>t</a:t>
            </a:r>
            <a:r>
              <a:rPr sz="2000" dirty="0"/>
              <a:t>_limit is numeric, dates are proper format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Referential integrity: Confirmed </a:t>
            </a:r>
            <a:r>
              <a:rPr lang="en-IN" sz="2000" dirty="0"/>
              <a:t>customer_id ,   card_id </a:t>
            </a:r>
            <a:r>
              <a:rPr sz="2000" dirty="0"/>
              <a:t>relationships</a:t>
            </a:r>
            <a:endParaRPr lang="en-IN" sz="2000" dirty="0"/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endParaRPr lang="en-IN" sz="2000" dirty="0"/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endParaRPr sz="2000" dirty="0"/>
          </a:p>
          <a:p>
            <a:br>
              <a:rPr sz="2000" dirty="0"/>
            </a:br>
            <a:r>
              <a:rPr sz="2000" dirty="0"/>
              <a:t>Analytical SQL Queries (25 Questions)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Basic: COUNT(*), COUNT(DISTINCT), AVG(), GROUP BY car</a:t>
            </a:r>
            <a:r>
              <a:rPr lang="en-IN" sz="2000" dirty="0" err="1"/>
              <a:t>d_type</a:t>
            </a:r>
            <a:endParaRPr sz="2000" dirty="0"/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Intermediate: CASE statements for percentages, SUM() by dimension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Advanced: CTEs, window functions (LAG for YoY, RANK for ranking), subqueries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Results: 25 SQL queries answered all business questions, outputs exported for Tableau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sz="3600" dirty="0"/>
              <a:t>Step 5-6: Tableau Dashboard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316" y="914400"/>
            <a:ext cx="8986683" cy="5888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92D55"/>
                </a:solidFill>
              </a:defRPr>
            </a:pPr>
            <a:endParaRPr lang="en-IN" sz="2000" dirty="0"/>
          </a:p>
          <a:p>
            <a:pPr>
              <a:defRPr sz="1400" b="1">
                <a:solidFill>
                  <a:srgbClr val="192D55"/>
                </a:solidFill>
              </a:defRPr>
            </a:pPr>
            <a:r>
              <a:rPr sz="2000" dirty="0"/>
              <a:t>Data Connection &amp; Preparation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</a:defRPr>
            </a:pPr>
            <a:r>
              <a:rPr sz="2000" dirty="0"/>
              <a:t>✓ Import CSV into Tableau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</a:defRPr>
            </a:pPr>
            <a:r>
              <a:rPr sz="2000" dirty="0"/>
              <a:t>✓ Validate field data types (text, number, date)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</a:defRPr>
            </a:pPr>
            <a:r>
              <a:rPr sz="2000" dirty="0"/>
              <a:t>✓ Configure measures (SUM </a:t>
            </a:r>
            <a:r>
              <a:rPr lang="en-IN" sz="2000" dirty="0"/>
              <a:t>(</a:t>
            </a:r>
            <a:r>
              <a:rPr sz="2000" dirty="0" err="1"/>
              <a:t>cr</a:t>
            </a:r>
            <a:r>
              <a:rPr lang="en-IN" sz="2000" dirty="0"/>
              <a:t>ed</a:t>
            </a:r>
            <a:r>
              <a:rPr sz="2000" dirty="0" err="1"/>
              <a:t>i</a:t>
            </a:r>
            <a:r>
              <a:rPr lang="en-IN" sz="2000" dirty="0"/>
              <a:t>t_limit</a:t>
            </a:r>
            <a:r>
              <a:rPr sz="2000" dirty="0"/>
              <a:t>) vs dimensions (</a:t>
            </a:r>
            <a:r>
              <a:rPr sz="2000" dirty="0" err="1"/>
              <a:t>card_type</a:t>
            </a:r>
            <a:r>
              <a:rPr sz="2000" dirty="0"/>
              <a:t>)</a:t>
            </a:r>
          </a:p>
          <a:p>
            <a:br>
              <a:rPr sz="2000" dirty="0"/>
            </a:br>
            <a:r>
              <a:rPr sz="2000" dirty="0"/>
              <a:t>Calculated Fields &amp; LOD Expressions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</a:defRPr>
            </a:pPr>
            <a:r>
              <a:rPr sz="2000" dirty="0"/>
              <a:t>✓ Active Cards: SUM(IF [Card Status]='active' THEN 1 ELSE 0)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</a:defRPr>
            </a:pPr>
            <a:r>
              <a:rPr sz="2000" dirty="0"/>
              <a:t>✓ Cards Per Customer (LOD): {FIXED [Customer ID]: COUNTD([Card ID])}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</a:defRPr>
            </a:pPr>
            <a:r>
              <a:rPr sz="2000" dirty="0"/>
              <a:t>✓ Customer Exposure (LOD): {FIXED [Customer ID]: SUM([Credit Limit])}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</a:defRPr>
            </a:pPr>
            <a:r>
              <a:rPr sz="2000" dirty="0"/>
              <a:t>✓ Virtual Adoption %: COUNT Virtual / COUNTD(Card ID)</a:t>
            </a:r>
          </a:p>
          <a:p>
            <a:br>
              <a:rPr sz="2000" dirty="0"/>
            </a:br>
            <a:r>
              <a:rPr sz="2000" dirty="0"/>
              <a:t>4-Page Dashboard Design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</a:defRPr>
            </a:pPr>
            <a:r>
              <a:rPr sz="2000" dirty="0"/>
              <a:t>✓ Page 1: Executive Overview (KPIs + Portfolio Composition)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</a:defRPr>
            </a:pPr>
            <a:r>
              <a:rPr sz="2000" dirty="0"/>
              <a:t>✓ Page 2: Customer Analytics (Multi-card behavior + Top customers)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</a:defRPr>
            </a:pPr>
            <a:r>
              <a:rPr sz="2000" dirty="0"/>
              <a:t>✓ Page 3: Digital Adoption (Contactless + Virtual trends)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</a:defRPr>
            </a:pPr>
            <a:r>
              <a:rPr sz="2000" dirty="0"/>
              <a:t>✓ Page 4: Portfolio Health (Expiry forecast + Inactive exposure)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The Actual Dashboards I Built in Tableau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42" y="182880"/>
            <a:ext cx="89817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sz="3200" dirty="0"/>
              <a:t>Dashboard Page 1: Executive Portfolio Overview</a:t>
            </a:r>
          </a:p>
        </p:txBody>
      </p:sp>
      <p:pic>
        <p:nvPicPr>
          <p:cNvPr id="5" name="Picture 4" descr="Executive_Overview__Portfoli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" y="1196783"/>
            <a:ext cx="8981769" cy="5174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37160"/>
            <a:ext cx="90751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sz="3200" dirty="0"/>
              <a:t>Dashboard Page 2: Customer &amp; Product</a:t>
            </a:r>
            <a:r>
              <a:rPr lang="en-IN" sz="3200" dirty="0"/>
              <a:t> </a:t>
            </a:r>
            <a:r>
              <a:rPr sz="3200" dirty="0"/>
              <a:t>Analy</a:t>
            </a:r>
            <a:r>
              <a:rPr lang="en-IN" sz="3200" dirty="0"/>
              <a:t>sis</a:t>
            </a:r>
            <a:endParaRPr sz="3200" dirty="0"/>
          </a:p>
        </p:txBody>
      </p:sp>
      <p:pic>
        <p:nvPicPr>
          <p:cNvPr id="5" name="Picture 4" descr="Customer___Produc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6" y="923986"/>
            <a:ext cx="9014612" cy="53910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39" y="137160"/>
            <a:ext cx="85953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sz="3200" dirty="0"/>
              <a:t>Dashboard Page 3: Digital Adoption</a:t>
            </a:r>
            <a:r>
              <a:rPr lang="en-IN" sz="3200" dirty="0"/>
              <a:t> &amp; Behaviour </a:t>
            </a:r>
            <a:endParaRPr sz="3200" dirty="0"/>
          </a:p>
        </p:txBody>
      </p:sp>
      <p:pic>
        <p:nvPicPr>
          <p:cNvPr id="5" name="Picture 4" descr="Digital_Adoptation___Behavi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2896"/>
            <a:ext cx="9065342" cy="52225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sz="3200" dirty="0"/>
              <a:t>Dashboard Page 4: Portfolio Health &amp; Renewal</a:t>
            </a:r>
          </a:p>
        </p:txBody>
      </p:sp>
      <p:pic>
        <p:nvPicPr>
          <p:cNvPr id="5" name="Picture 4" descr="Portfolio_Health___Renew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960120"/>
            <a:ext cx="8771357" cy="560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What The Dashboards Revealed:</a:t>
            </a:r>
            <a:br/>
            <a:r>
              <a:t>Key Business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5638" y="191926"/>
            <a:ext cx="87949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sz="2800" dirty="0"/>
              <a:t>Finding 1: Platinum Card Concentration (From 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07755"/>
            <a:ext cx="8976852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55"/>
                </a:solidFill>
              </a:defRPr>
            </a:pPr>
            <a:r>
              <a:rPr sz="2000" dirty="0"/>
              <a:t>What the Dashboard Showed: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Dashboard Page 1 - Credit Exposure by Card Type chart revealed Platinum = ₹7,493M (52% of total)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Page 2 - Top 10 Customers visualization showed extreme concentration: Customer 1 = ₹1.19M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Network distribution appeared balanced across 4 networks (25% each)</a:t>
            </a:r>
            <a:endParaRPr lang="en-IN" sz="2000" dirty="0"/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endParaRPr sz="2000" dirty="0"/>
          </a:p>
          <a:p>
            <a:br>
              <a:rPr sz="2000" dirty="0"/>
            </a:br>
            <a:r>
              <a:rPr sz="2000" dirty="0"/>
              <a:t>What This Means for Business:</a:t>
            </a:r>
          </a:p>
          <a:p>
            <a:pPr>
              <a:spcBef>
                <a:spcPts val="600"/>
              </a:spcBef>
              <a:defRPr sz="1200">
                <a:solidFill>
                  <a:srgbClr val="646496"/>
                </a:solidFill>
              </a:defRPr>
            </a:pPr>
            <a:r>
              <a:rPr sz="2000" dirty="0"/>
              <a:t>52% of credit exposure in Platinum = concentration risk if premium customers churn</a:t>
            </a:r>
          </a:p>
          <a:p>
            <a:pPr>
              <a:spcBef>
                <a:spcPts val="600"/>
              </a:spcBef>
              <a:defRPr sz="1200">
                <a:solidFill>
                  <a:srgbClr val="646496"/>
                </a:solidFill>
              </a:defRPr>
            </a:pPr>
            <a:r>
              <a:rPr sz="2000" dirty="0"/>
              <a:t>Top 10 customers = ₹7.1M (only 0.04% of customer base but 4.9% of exposure)</a:t>
            </a:r>
          </a:p>
          <a:p>
            <a:pPr>
              <a:spcBef>
                <a:spcPts val="600"/>
              </a:spcBef>
              <a:defRPr sz="1200">
                <a:solidFill>
                  <a:srgbClr val="646496"/>
                </a:solidFill>
              </a:defRPr>
            </a:pPr>
            <a:r>
              <a:rPr sz="2000" dirty="0"/>
              <a:t>VIP retention becomes critical priority; one customer = ₹1M+ risk exposure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3793" y="149870"/>
            <a:ext cx="8524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sz="2800" dirty="0"/>
              <a:t>Finding 2: Virtual Card Opportunity (From 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793" y="972830"/>
            <a:ext cx="82296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55"/>
                </a:solidFill>
              </a:defRPr>
            </a:pPr>
            <a:r>
              <a:rPr sz="2000" dirty="0"/>
              <a:t>What the Dashboard Showed: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Page 3 - Digital Adoption KPIs showed: Virtual Cards = 6,449 (19.87%), Contactless = 27,632 (85.13%)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Virtual Adoption by Year chart showed flat trend: 2018 (761) → 2025 (839) = only 10% growth over 7 years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Contactless adoption stable at 85%+ across all months, but virtual adoption stuck at ~20%</a:t>
            </a:r>
          </a:p>
          <a:p>
            <a:br>
              <a:rPr sz="2000" dirty="0"/>
            </a:br>
            <a:r>
              <a:rPr sz="2000" dirty="0"/>
              <a:t>What This Means for Business:</a:t>
            </a:r>
          </a:p>
          <a:p>
            <a:pPr>
              <a:spcBef>
                <a:spcPts val="600"/>
              </a:spcBef>
              <a:defRPr sz="1200">
                <a:solidFill>
                  <a:srgbClr val="646496"/>
                </a:solidFill>
              </a:defRPr>
            </a:pPr>
            <a:r>
              <a:rPr sz="2000" dirty="0"/>
              <a:t>Virtual cards at 19.87% vs industry standard 40%+ = 20-point gap = ₹1.4B opportunity</a:t>
            </a:r>
          </a:p>
          <a:p>
            <a:pPr>
              <a:spcBef>
                <a:spcPts val="600"/>
              </a:spcBef>
              <a:defRPr sz="1200">
                <a:solidFill>
                  <a:srgbClr val="646496"/>
                </a:solidFill>
              </a:defRPr>
            </a:pPr>
            <a:r>
              <a:rPr sz="2000" dirty="0"/>
              <a:t>Flat trend suggests poor awareness/adoption, not product issue (recent cohorts adopt at 20%+)</a:t>
            </a:r>
          </a:p>
          <a:p>
            <a:pPr>
              <a:spcBef>
                <a:spcPts val="600"/>
              </a:spcBef>
              <a:defRPr sz="1200">
                <a:solidFill>
                  <a:srgbClr val="646496"/>
                </a:solidFill>
              </a:defRPr>
            </a:pPr>
            <a:r>
              <a:rPr sz="2000" dirty="0"/>
              <a:t>Quick win: remarket existing virtual card benefits could drive 5% uplift = 3,250 new virtual users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49870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sz="2800" dirty="0"/>
              <a:t>Finding 3: Expiry &amp; Renewal Workload (From 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884" y="972830"/>
            <a:ext cx="877529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55"/>
                </a:solidFill>
              </a:defRPr>
            </a:pPr>
            <a:r>
              <a:rPr sz="2000" dirty="0"/>
              <a:t>What the Dashboard Showed: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Page 4 - Cards Expiring by Year chart showed steady expiry: 2024 (₹1.73M) → 2027 (₹1.84M) → 2030 (₹1.75M)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Monthly Expiry Trend visualization revealed consistent pattern (no seasonal spikes)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Inactive Exposure showed ₹2.0B in Blocked/Expired/Lost cards = 13.8% of portfolio</a:t>
            </a:r>
            <a:endParaRPr lang="en-IN" sz="2000" dirty="0"/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endParaRPr lang="en-IN" sz="2000" dirty="0"/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endParaRPr sz="2000" dirty="0"/>
          </a:p>
          <a:p>
            <a:br>
              <a:rPr sz="2000" dirty="0"/>
            </a:br>
            <a:r>
              <a:rPr sz="2000" dirty="0"/>
              <a:t>What This Means for Business:</a:t>
            </a:r>
          </a:p>
          <a:p>
            <a:pPr>
              <a:spcBef>
                <a:spcPts val="600"/>
              </a:spcBef>
              <a:defRPr sz="1200">
                <a:solidFill>
                  <a:srgbClr val="646496"/>
                </a:solidFill>
              </a:defRPr>
            </a:pPr>
            <a:r>
              <a:rPr sz="2000" dirty="0"/>
              <a:t>Steady renewal workload enables predictable renewal campaign cadence (₹1.75B annually)</a:t>
            </a:r>
          </a:p>
          <a:p>
            <a:pPr>
              <a:spcBef>
                <a:spcPts val="600"/>
              </a:spcBef>
              <a:defRPr sz="1200">
                <a:solidFill>
                  <a:srgbClr val="646496"/>
                </a:solidFill>
              </a:defRPr>
            </a:pPr>
            <a:r>
              <a:rPr sz="2000" dirty="0"/>
              <a:t>₹2.0B inactive portfolio = immediate win-back opportunity; 10% reactivation = ₹200M incremental exposure</a:t>
            </a:r>
          </a:p>
          <a:p>
            <a:pPr>
              <a:spcBef>
                <a:spcPts val="600"/>
              </a:spcBef>
              <a:defRPr sz="1200">
                <a:solidFill>
                  <a:srgbClr val="646496"/>
                </a:solidFill>
              </a:defRPr>
            </a:pPr>
            <a:r>
              <a:rPr sz="2000" dirty="0"/>
              <a:t>6.14% non-active rate is manageable but improvable with better engagement strategies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4523" y="201758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sz="2800" dirty="0"/>
              <a:t>How The Interactive Dashboard Enabled These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806" y="859536"/>
            <a:ext cx="8898193" cy="583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55"/>
                </a:solidFill>
              </a:defRPr>
            </a:pPr>
            <a:r>
              <a:rPr sz="2000" dirty="0"/>
              <a:t>Interactive Filtering &amp; Drill-Down: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Filter by Card Type → Immediately see Platinum is 52% of exposure vs Gold 45%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Filter by Card Status → Identify which types have highest inactive rates (Classic &gt; Gold &gt; Platinum)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Year slicers on adoption page → Notice virtual adoption flat but contactless consistent at 85%</a:t>
            </a:r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Top 10 Customers visual → Drag bar to see that customers 1-10 hold ₹7.1M (4.9% of portfolio)</a:t>
            </a:r>
            <a:endParaRPr lang="en-IN" sz="2000" dirty="0"/>
          </a:p>
          <a:p>
            <a:pPr>
              <a:spcBef>
                <a:spcPts val="800"/>
              </a:spcBef>
              <a:defRPr sz="1200">
                <a:solidFill>
                  <a:srgbClr val="282828"/>
                </a:solidFill>
              </a:defRPr>
            </a:pPr>
            <a:endParaRPr sz="2000" dirty="0"/>
          </a:p>
          <a:p>
            <a:br>
              <a:rPr sz="2000" dirty="0"/>
            </a:br>
            <a:r>
              <a:rPr sz="2000" dirty="0"/>
              <a:t>Why Dashboard is Better Than SQL Alone:</a:t>
            </a:r>
          </a:p>
          <a:p>
            <a:pPr>
              <a:spcBef>
                <a:spcPts val="600"/>
              </a:spcBef>
              <a:defRPr sz="1100">
                <a:solidFill>
                  <a:srgbClr val="3C78B4"/>
                </a:solidFill>
              </a:defRPr>
            </a:pPr>
            <a:r>
              <a:rPr sz="2000" dirty="0"/>
              <a:t>SQL = one-time snapshot; Dashboard = real-time, interactive, updated weekly</a:t>
            </a:r>
          </a:p>
          <a:p>
            <a:pPr>
              <a:spcBef>
                <a:spcPts val="600"/>
              </a:spcBef>
              <a:defRPr sz="1100">
                <a:solidFill>
                  <a:srgbClr val="3C78B4"/>
                </a:solidFill>
              </a:defRPr>
            </a:pPr>
            <a:r>
              <a:rPr sz="2000" dirty="0"/>
              <a:t>Non-technical stakeholders can explore data without writing SQL</a:t>
            </a:r>
          </a:p>
          <a:p>
            <a:pPr>
              <a:spcBef>
                <a:spcPts val="600"/>
              </a:spcBef>
              <a:defRPr sz="1100">
                <a:solidFill>
                  <a:srgbClr val="3C78B4"/>
                </a:solidFill>
              </a:defRPr>
            </a:pPr>
            <a:r>
              <a:rPr sz="2000" dirty="0"/>
              <a:t>Visual patterns jump out (Platinum bar towers over others) vs reading tables</a:t>
            </a:r>
          </a:p>
          <a:p>
            <a:pPr>
              <a:spcBef>
                <a:spcPts val="600"/>
              </a:spcBef>
              <a:defRPr sz="1100">
                <a:solidFill>
                  <a:srgbClr val="3C78B4"/>
                </a:solidFill>
              </a:defRPr>
            </a:pPr>
            <a:r>
              <a:rPr sz="2000" dirty="0"/>
              <a:t>Drill-down capability reveals insights hidden in aggregates (discover the concentration issue)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Recommendations Built from Dashboard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Dashboard-Driven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490" y="457200"/>
            <a:ext cx="8967019" cy="627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>
              <a:spcBef>
                <a:spcPts val="10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Recommendation 1: VIP Retention Program</a:t>
            </a:r>
          </a:p>
          <a:p>
            <a:pPr lvl="1">
              <a:spcAft>
                <a:spcPts val="6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Dashboard revealed top 250 customers = 20-25% of exposure. Action: Assign dedicated account managers, quarterly business reviews, VIP benefits. Timeline: Immediate. Projected outcome: Reduce VIP churn from 5% → 2%.</a:t>
            </a:r>
          </a:p>
          <a:p>
            <a:pPr>
              <a:spcBef>
                <a:spcPts val="10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Recommendation 2: Virtual Card Marketing Blitz</a:t>
            </a:r>
          </a:p>
          <a:p>
            <a:pPr lvl="1">
              <a:spcAft>
                <a:spcPts val="6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Dashboard showed 19.87% adoption vs 40%+ industry. Action: Launch 6-month awareness campaign, integrate virtual option in new issuance, partner with digital merchants. Timeline: Q1-Q2. Projected outcome: Grow from 19.87% → 25%.</a:t>
            </a:r>
          </a:p>
          <a:p>
            <a:pPr>
              <a:spcBef>
                <a:spcPts val="10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Recommendation 3: Win-Back Campaign</a:t>
            </a:r>
          </a:p>
          <a:p>
            <a:pPr lvl="1">
              <a:spcAft>
                <a:spcPts val="6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Dashboard identified ₹2.0B inactive (Blocked/Expired/Lost). Action: Send targeted re-engagement offers to inactive customers. Timeline: Immediate. Projected outcome: Reactivate 10% = ₹200M incremental exposure.</a:t>
            </a:r>
          </a:p>
          <a:p>
            <a:pPr>
              <a:spcBef>
                <a:spcPts val="10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Recommendation 4: Multi-Card Bundling</a:t>
            </a:r>
          </a:p>
          <a:p>
            <a:pPr lvl="1">
              <a:spcAft>
                <a:spcPts val="6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Dashboard showed only 20% multi-card penetration vs 30% benchmark. Action: Bundle Gold + Platinum with complementary rewards. Timeline: Q2-Q3. Projected outcome: Grow multi-card from 20% → 25% = ₹1.1B additional exposure.</a:t>
            </a:r>
          </a:p>
          <a:p>
            <a:pPr>
              <a:spcBef>
                <a:spcPts val="1000"/>
              </a:spcBef>
              <a:defRPr sz="1300" b="1">
                <a:solidFill>
                  <a:srgbClr val="192D55"/>
                </a:solidFill>
              </a:defRPr>
            </a:pPr>
            <a:r>
              <a:rPr sz="1600" dirty="0"/>
              <a:t>Recommendation 5: Renewal Process Automation</a:t>
            </a:r>
          </a:p>
          <a:p>
            <a:pPr lvl="1">
              <a:spcAft>
                <a:spcPts val="600"/>
              </a:spcAft>
              <a:defRPr sz="1100">
                <a:solidFill>
                  <a:srgbClr val="282828"/>
                </a:solidFill>
              </a:defRPr>
            </a:pPr>
            <a:r>
              <a:rPr sz="1600" dirty="0"/>
              <a:t>Dashboard showed steady ₹1.75B annual expiry. Action: Automate 90-day pre-expiry notifications, A/B test renewal offers by card type. Timeline: Q1-Q4. Projected outcome: Improve renewal rate from 85% → 90%.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Project Outcome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sz="3200" dirty="0"/>
              <a:t>What I Delivered: Complete Analytics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567" y="545004"/>
            <a:ext cx="9001433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55"/>
                </a:solidFill>
              </a:defRPr>
            </a:pPr>
            <a:endParaRPr lang="en-IN" sz="2000" dirty="0"/>
          </a:p>
          <a:p>
            <a:pPr>
              <a:defRPr sz="1500" b="1">
                <a:solidFill>
                  <a:srgbClr val="192D55"/>
                </a:solidFill>
              </a:defRPr>
            </a:pPr>
            <a:r>
              <a:rPr sz="2000" dirty="0"/>
              <a:t>Technical Deliverables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✓ 25 SQL queries (basic, intermediate, advanced) solving business questions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✓ Data validation framework (NULL checks, duplicates, consistency)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✓ 4-page interactive Tableau dashboard with 15+ visualizations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✓ Calculated fields &amp; Level-of-Detail (LOD) expressions for customer-grain analysis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✓ Multi-dimensional filtering (by card type, network, status, date, customer)</a:t>
            </a:r>
          </a:p>
          <a:p>
            <a:br>
              <a:rPr sz="2000" dirty="0"/>
            </a:br>
            <a:r>
              <a:rPr sz="2000" dirty="0"/>
              <a:t>Business Deliverables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✓ Portfolio intelligence: Comprehensive view of 32,457 cards across 25,000 customers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✓ Risk identification: Quantified concentration (52% Platinum), top customer exposure (20%)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✓ Growth opportunities: ₹2.5B potential (virtual cards + multi-card + reactivation)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✓ Actionable roadmap: 5 strategic initiatives with timelines and ownership</a:t>
            </a:r>
            <a:endParaRPr lang="en-IN" sz="2000" dirty="0"/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endParaRPr sz="2000" dirty="0"/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</a:defRPr>
            </a:pPr>
            <a:r>
              <a:rPr sz="2000" dirty="0"/>
              <a:t>✓ Success metrics: KPI framework for measuring impact of recommendations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Value Realized from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728" y="822960"/>
            <a:ext cx="8952271" cy="5806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1300" b="1">
                <a:solidFill>
                  <a:srgbClr val="192D55"/>
                </a:solidFill>
              </a:defRPr>
            </a:pPr>
            <a:r>
              <a:rPr sz="2000" dirty="0"/>
              <a:t>Risk Identification</a:t>
            </a:r>
          </a:p>
          <a:p>
            <a:pPr lvl="1">
              <a:spcAft>
                <a:spcPts val="600"/>
              </a:spcAft>
              <a:defRPr sz="1100">
                <a:solidFill>
                  <a:srgbClr val="282828"/>
                </a:solidFill>
              </a:defRPr>
            </a:pPr>
            <a:r>
              <a:rPr sz="2000" dirty="0"/>
              <a:t>Concentration risk (52% Platinum) quantified → enables hedging strategy → 5-10% risk reduction potential</a:t>
            </a:r>
          </a:p>
          <a:p>
            <a:pPr>
              <a:spcBef>
                <a:spcPts val="800"/>
              </a:spcBef>
              <a:defRPr sz="1300" b="1">
                <a:solidFill>
                  <a:srgbClr val="192D55"/>
                </a:solidFill>
              </a:defRPr>
            </a:pPr>
            <a:r>
              <a:rPr sz="2000" dirty="0"/>
              <a:t>Revenue Opportunity</a:t>
            </a:r>
          </a:p>
          <a:p>
            <a:pPr lvl="1">
              <a:spcAft>
                <a:spcPts val="600"/>
              </a:spcAft>
              <a:defRPr sz="1100">
                <a:solidFill>
                  <a:srgbClr val="282828"/>
                </a:solidFill>
              </a:defRPr>
            </a:pPr>
            <a:r>
              <a:rPr sz="2000" dirty="0"/>
              <a:t>Virtual card gap (₹1.4B) + multi-card penetration (₹1.1B) = ₹2.5B TAM identified for growth</a:t>
            </a:r>
          </a:p>
          <a:p>
            <a:pPr>
              <a:spcBef>
                <a:spcPts val="800"/>
              </a:spcBef>
              <a:defRPr sz="1300" b="1">
                <a:solidFill>
                  <a:srgbClr val="192D55"/>
                </a:solidFill>
              </a:defRPr>
            </a:pPr>
            <a:r>
              <a:rPr sz="2000" dirty="0"/>
              <a:t>Operational Efficiency</a:t>
            </a:r>
          </a:p>
          <a:p>
            <a:pPr lvl="1">
              <a:spcAft>
                <a:spcPts val="600"/>
              </a:spcAft>
              <a:defRPr sz="1100">
                <a:solidFill>
                  <a:srgbClr val="282828"/>
                </a:solidFill>
              </a:defRPr>
            </a:pPr>
            <a:r>
              <a:rPr sz="2000" dirty="0"/>
              <a:t>Automated renewal process &amp; win-back campaigns → 40-50% reduction in manual work → ₹50-100K cost savings annually</a:t>
            </a:r>
          </a:p>
          <a:p>
            <a:pPr>
              <a:spcBef>
                <a:spcPts val="800"/>
              </a:spcBef>
              <a:defRPr sz="1300" b="1">
                <a:solidFill>
                  <a:srgbClr val="192D55"/>
                </a:solidFill>
              </a:defRPr>
            </a:pPr>
            <a:r>
              <a:rPr sz="2000" dirty="0"/>
              <a:t>Decision Velocity</a:t>
            </a:r>
          </a:p>
          <a:p>
            <a:pPr lvl="1">
              <a:spcAft>
                <a:spcPts val="600"/>
              </a:spcAft>
              <a:defRPr sz="1100">
                <a:solidFill>
                  <a:srgbClr val="282828"/>
                </a:solidFill>
              </a:defRPr>
            </a:pPr>
            <a:r>
              <a:rPr sz="2000" dirty="0"/>
              <a:t>Dashboard replaced monthly SQL reports → enables daily monitoring → 90% faster response to emerging issues</a:t>
            </a:r>
          </a:p>
          <a:p>
            <a:pPr>
              <a:spcBef>
                <a:spcPts val="800"/>
              </a:spcBef>
              <a:defRPr sz="1300" b="1">
                <a:solidFill>
                  <a:srgbClr val="192D55"/>
                </a:solidFill>
              </a:defRPr>
            </a:pPr>
            <a:r>
              <a:rPr sz="2000" dirty="0"/>
              <a:t>Customer Insights</a:t>
            </a:r>
          </a:p>
          <a:p>
            <a:pPr lvl="1">
              <a:spcAft>
                <a:spcPts val="600"/>
              </a:spcAft>
              <a:defRPr sz="1100">
                <a:solidFill>
                  <a:srgbClr val="282828"/>
                </a:solidFill>
              </a:defRPr>
            </a:pPr>
            <a:r>
              <a:rPr sz="2000" dirty="0"/>
              <a:t>Segmented understanding (VIP concentration, adoption rates, churn patterns) → enables targeted retention and acquisition strategies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End-to-End Analytics Capability Demonstrated</a:t>
            </a:r>
          </a:p>
          <a:p>
            <a:br/>
            <a:r>
              <a:t>Raw Data → SQL Validation → SQL Analysis → Tableau Dashboard → Business Insights → Actionable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Hari Krishna | Data Analyst</a:t>
            </a:r>
          </a:p>
          <a:p>
            <a:pPr algn="ctr">
              <a:defRPr sz="1300">
                <a:solidFill>
                  <a:srgbClr val="00BCD4"/>
                </a:solidFill>
              </a:defRPr>
            </a:pPr>
            <a:r>
              <a:t>LinkedIn: linkedin.com/in/hari-krishna-178397145 | GitHub: github.com/harikrishna-analytics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1656</Words>
  <Application>Microsoft Office PowerPoint</Application>
  <PresentationFormat>On-screen Show (4:3)</PresentationFormat>
  <Paragraphs>145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 krishna</cp:lastModifiedBy>
  <cp:revision>2</cp:revision>
  <dcterms:created xsi:type="dcterms:W3CDTF">2013-01-27T09:14:16Z</dcterms:created>
  <dcterms:modified xsi:type="dcterms:W3CDTF">2026-08-14T03:03:10Z</dcterms:modified>
  <cp:category/>
</cp:coreProperties>
</file>