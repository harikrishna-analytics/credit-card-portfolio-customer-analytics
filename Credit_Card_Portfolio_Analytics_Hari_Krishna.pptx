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Cards (K)</c:v>
          </c:tx>
          <c:spPr>
            <a:solidFill>
              <a:srgbClr val="4D9C9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0243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American Express</c:v>
              </c:pt>
              <c:pt idx="1">
                <c:v>RuPay</c:v>
              </c:pt>
              <c:pt idx="2">
                <c:v>Visa</c:v>
              </c:pt>
              <c:pt idx="3">
                <c:v>Mastercard</c:v>
              </c:pt>
            </c:strLit>
          </c:cat>
          <c:val>
            <c:numLit>
              <c:formatCode>General</c:formatCode>
              <c:ptCount val="4"/>
              <c:pt idx="0">
                <c:v>8.2799999999999994</c:v>
              </c:pt>
              <c:pt idx="1">
                <c:v>8.14</c:v>
              </c:pt>
              <c:pt idx="2">
                <c:v>8.1</c:v>
              </c:pt>
              <c:pt idx="3">
                <c:v>7.94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F06-4A73-B4E1-3200A1F3C0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0243E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Credit exposure</c:v>
          </c:tx>
          <c:spPr>
            <a:solidFill>
              <a:srgbClr val="155EE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0243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Platinum</c:v>
              </c:pt>
              <c:pt idx="1">
                <c:v>Gold</c:v>
              </c:pt>
              <c:pt idx="2">
                <c:v>Silver</c:v>
              </c:pt>
              <c:pt idx="3">
                <c:v>Classic</c:v>
              </c:pt>
            </c:strLit>
          </c:cat>
          <c:val>
            <c:numLit>
              <c:formatCode>General</c:formatCode>
              <c:ptCount val="4"/>
              <c:pt idx="0">
                <c:v>6.68</c:v>
              </c:pt>
              <c:pt idx="1">
                <c:v>4.99</c:v>
              </c:pt>
              <c:pt idx="2">
                <c:v>2.04</c:v>
              </c:pt>
              <c:pt idx="3">
                <c:v>0.73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1A-47DD-9107-41C8F34F7B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0243E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Exposure</c:v>
          </c:tx>
          <c:spPr>
            <a:ln w="28575">
              <a:solidFill>
                <a:srgbClr val="F7901E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F7901E"/>
              </a:solidFill>
            </c:spPr>
          </c:marker>
          <c:cat>
            <c:numLit>
              <c:formatCode>General</c:formatCode>
              <c:ptCount val="9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  <c:pt idx="4">
                <c:v>2027</c:v>
              </c:pt>
              <c:pt idx="5">
                <c:v>2028</c:v>
              </c:pt>
              <c:pt idx="6">
                <c:v>2029</c:v>
              </c:pt>
              <c:pt idx="7">
                <c:v>2030</c:v>
              </c:pt>
              <c:pt idx="8">
                <c:v>2031</c:v>
              </c:pt>
            </c:numLit>
          </c:cat>
          <c:val>
            <c:numLit>
              <c:formatCode>General</c:formatCode>
              <c:ptCount val="9"/>
              <c:pt idx="0">
                <c:v>0.83</c:v>
              </c:pt>
              <c:pt idx="1">
                <c:v>1.73</c:v>
              </c:pt>
              <c:pt idx="2">
                <c:v>1.86</c:v>
              </c:pt>
              <c:pt idx="3">
                <c:v>1.8</c:v>
              </c:pt>
              <c:pt idx="4">
                <c:v>1.84</c:v>
              </c:pt>
              <c:pt idx="5">
                <c:v>1.75</c:v>
              </c:pt>
              <c:pt idx="6">
                <c:v>1.84</c:v>
              </c:pt>
              <c:pt idx="7">
                <c:v>1.82</c:v>
              </c:pt>
              <c:pt idx="8">
                <c:v>0.96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D0C-48AD-AE40-9B60B9E1E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EE6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B6678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Dashboard image: Executive Overview Portfolio.png (user-provided).</a:t>
            </a:r>
          </a:p>
          <a:p>
            <a:r>
              <a:t>Project positioning: Credit_Card_Portfolio_Tableau_Dashboard_Documentation.docx, sections 1-3.</a:t>
            </a:r>
          </a:p>
          <a:p>
            <a:r>
              <a:t>Author profile: HariKrishna Resume.pdf.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 grain and dashboard build: Credit_Card_Portfolio_Tableau_Dashboard_Documentation.docx, sections 2-3 and 8-10.</a:t>
            </a:r>
          </a:p>
          <a:p>
            <a:r>
              <a:t>SQL scope: cards_analytics.sql and Card_Analytics_SQL_Questions_1_to_25.pdf.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Metrics: Cards_Data.csv; calculation: count of Card_ID, distinct Customer_ID, sum/average Credit_Limit and status/contactless proportions.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Exposure and customer concentration: Cards_Data.csv, grouped by Card_Type and Customer_ID.</a:t>
            </a:r>
          </a:p>
          <a:p>
            <a:r>
              <a:t>Customer-grain method: Credit_Card_Portfolio_Tableau_Dashboard_Documentation.docx, section 5.</a:t>
            </a:r>
          </a:p>
          <a:p>
            <a:r>
              <a:t>Dashboard image: Customer &amp; Product Analysis.png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Adoption metrics: Cards_Data.csv, proportions of Contactless = Yes and Card_Mode = Virtual.</a:t>
            </a:r>
          </a:p>
          <a:p>
            <a:r>
              <a:t>Dashboard image: Digital Adoptation &amp; Behaviour.png (user-provided).</a:t>
            </a:r>
          </a:p>
          <a:p>
            <a:r>
              <a:t>Dashboard method: Credit_Card_Portfolio_Tableau_Dashboard_Documentation.docx, section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Expiry and inactive exposure: Cards_Data.csv, grouped by Expiry_Date year and non-active Card_Status.</a:t>
            </a:r>
          </a:p>
          <a:p>
            <a:r>
              <a:t>Dashboard image: Portfolio Health &amp; Renewal.png (user-provided).</a:t>
            </a:r>
          </a:p>
          <a:p>
            <a:r>
              <a:t>Renewal use case: Credit_Card_Portfolio_Tableau_Dashboard_Documentation.docx,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SQL methods: cards_analytics.sql and Card_Analytics_SQL_Questions_1_to_25.pdf.</a:t>
            </a:r>
          </a:p>
          <a:p>
            <a:r>
              <a:t>Tableau methods and validation checklist: Credit_Card_Portfolio_Tableau_Dashboard_Documentation.docx, sections 5-6 and 11-14.</a:t>
            </a:r>
          </a:p>
          <a:p>
            <a:r>
              <a:t>Workbook cross-check: Credit Card Portfolio &amp; Customer Analytics.twb.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Professional profile and core strengths: HariKrishna Resume.pdf.</a:t>
            </a:r>
          </a:p>
          <a:p>
            <a:r>
              <a:t>LinkedIn contact: https://www.linkedin.com/in/hari-krishna-178397145 (user-provided; checked via public LinkedIn search result on 2026-08-13).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33EAF55-815A-42B7-928A-F1E129B1D0E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PORTFOLIO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CF7AD-2A69-442C-8D8A-F20149A27EA5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528637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Credit Card</a:t>
            </a:r>
          </a:p>
          <a:p>
            <a:pPr algn="l">
              <a:defRPr sz="39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Portfolio &amp; Customer</a:t>
            </a:r>
          </a:p>
          <a:p>
            <a:pPr algn="l">
              <a:defRPr sz="39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0C65D-286E-4D49-85EC-D960236EF895}"/>
              </a:ext>
            </a:extLst>
          </p:cNvPr>
          <p:cNvSpPr>
            <a:spLocks noGrp="1"/>
          </p:cNvSpPr>
          <p:nvPr/>
        </p:nvSpPr>
        <p:spPr>
          <a:xfrm>
            <a:off x="628650" y="32956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SQL + Tableau + business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6837E-AC29-4D7E-BF5D-26BC52B0E286}"/>
              </a:ext>
            </a:extLst>
          </p:cNvPr>
          <p:cNvSpPr>
            <a:spLocks noGrp="1"/>
          </p:cNvSpPr>
          <p:nvPr/>
        </p:nvSpPr>
        <p:spPr>
          <a:xfrm>
            <a:off x="628650" y="3895725"/>
            <a:ext cx="1524000" cy="47625"/>
          </a:xfrm>
          <a:prstGeom prst="rect">
            <a:avLst/>
          </a:prstGeom>
          <a:solidFill>
            <a:srgbClr val="F7901E"/>
          </a:solidFill>
          <a:ln w="0">
            <a:solidFill>
              <a:srgbClr val="F7901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462F9-3042-4BA0-B6EF-5902F321975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524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A card-level analytics portfolio that connects exposure, customer behaviour, digital adoption and renewal planning.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B2166-A9A5-442B-BD8C-6E968ECE498B}"/>
              </a:ext>
            </a:extLst>
          </p:cNvPr>
          <p:cNvSpPr>
            <a:spLocks noGrp="1"/>
          </p:cNvSpPr>
          <p:nvPr/>
        </p:nvSpPr>
        <p:spPr>
          <a:xfrm>
            <a:off x="628650" y="59055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Hari Krishna  |  Data Analyst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C9177-7F4D-4814-AF02-66178F3890FE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Hyderabad, India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A1D329-219B-4C61-A88A-96408E217121}"/>
              </a:ext>
            </a:extLst>
          </p:cNvPr>
          <p:cNvSpPr>
            <a:spLocks noGrp="1"/>
          </p:cNvSpPr>
          <p:nvPr/>
        </p:nvSpPr>
        <p:spPr>
          <a:xfrm>
            <a:off x="6257925" y="400050"/>
            <a:ext cx="5324475" cy="5810250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91275" y="1716948"/>
            <a:ext cx="5057775" cy="2643055"/>
          </a:xfrm>
          <a:prstGeom prst="roundRect">
            <a:avLst>
              <a:gd name="adj" fmla="val 3636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B2B997-62B1-4F2E-ADFA-C729CA5A9214}"/>
              </a:ext>
            </a:extLst>
          </p:cNvPr>
          <p:cNvSpPr>
            <a:spLocks noGrp="1"/>
          </p:cNvSpPr>
          <p:nvPr/>
        </p:nvSpPr>
        <p:spPr>
          <a:xfrm>
            <a:off x="6705600" y="50482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Explore the 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6614D2-F90A-429C-9673-E330F76FAD5D}"/>
              </a:ext>
            </a:extLst>
          </p:cNvPr>
          <p:cNvSpPr>
            <a:spLocks noGrp="1"/>
          </p:cNvSpPr>
          <p:nvPr/>
        </p:nvSpPr>
        <p:spPr>
          <a:xfrm>
            <a:off x="6705600" y="541020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Portfolio scale  •  Product mix</a:t>
            </a:r>
          </a:p>
          <a:p>
            <a:pPr algn="l">
              <a:defRPr sz="12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Digital behaviour  •  Renewal planning</a:t>
            </a:r>
          </a:p>
        </p:txBody>
      </p:sp>
    </p:spTree>
    <p:extLst>
      <p:ext uri="{BB962C8B-B14F-4D97-AF65-F5344CB8AC3E}">
        <p14:creationId xmlns:p14="http://schemas.microsoft.com/office/powerpoint/2010/main" val="75791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1EEB8D2-D7AD-4332-AF68-DCC0480C8E6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PROJECT 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E99BC-813A-4962-8C01-51C51E8742D5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One card-level dataset, translated into a management 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BA8778-5010-4364-9484-1AFF2374A7E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The dashboard is designed to answer business questions - not simply display SQL results.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2FBA2-AE75-4E06-8CDD-98DFC41B981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80DCEE-7FC1-48A8-81BD-B3428CC2EC5F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7622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849EDA-B9FA-4557-AB1F-E9C5A38A6770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762250" cy="66675"/>
          </a:xfrm>
          <a:prstGeom prst="rect">
            <a:avLst/>
          </a:prstGeom>
          <a:solidFill>
            <a:srgbClr val="155EEF"/>
          </a:solidFill>
          <a:ln w="0">
            <a:solidFill>
              <a:srgbClr val="155EE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69D20-C243-4BE1-9330-F725B08A2289}"/>
              </a:ext>
            </a:extLst>
          </p:cNvPr>
          <p:cNvSpPr>
            <a:spLocks noGrp="1"/>
          </p:cNvSpPr>
          <p:nvPr/>
        </p:nvSpPr>
        <p:spPr>
          <a:xfrm>
            <a:off x="838200" y="26193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1. Prepare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A8985A-29AD-4E2E-B108-EFA1B86ED113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2238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32,457 records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10 portfolio fields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One row = one card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0E3D06-C5DC-4CC3-AFC9-F485847D4F49}"/>
              </a:ext>
            </a:extLst>
          </p:cNvPr>
          <p:cNvSpPr>
            <a:spLocks noGrp="1"/>
          </p:cNvSpPr>
          <p:nvPr/>
        </p:nvSpPr>
        <p:spPr>
          <a:xfrm>
            <a:off x="4010025" y="2238375"/>
            <a:ext cx="27622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92E8D-5DB4-4D38-8996-8C717970F686}"/>
              </a:ext>
            </a:extLst>
          </p:cNvPr>
          <p:cNvSpPr>
            <a:spLocks noGrp="1"/>
          </p:cNvSpPr>
          <p:nvPr/>
        </p:nvSpPr>
        <p:spPr>
          <a:xfrm>
            <a:off x="4010025" y="2238375"/>
            <a:ext cx="2762250" cy="66675"/>
          </a:xfrm>
          <a:prstGeom prst="rect">
            <a:avLst/>
          </a:prstGeom>
          <a:solidFill>
            <a:srgbClr val="4D9C9A"/>
          </a:solidFill>
          <a:ln w="0">
            <a:solidFill>
              <a:srgbClr val="4D9C9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19A4D-8F00-4F4F-B1C3-3C533A9F9819}"/>
              </a:ext>
            </a:extLst>
          </p:cNvPr>
          <p:cNvSpPr>
            <a:spLocks noGrp="1"/>
          </p:cNvSpPr>
          <p:nvPr/>
        </p:nvSpPr>
        <p:spPr>
          <a:xfrm>
            <a:off x="4238625" y="26193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2. Analyse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819AFB-4A4D-4EEF-B858-B3235AC27891}"/>
              </a:ext>
            </a:extLst>
          </p:cNvPr>
          <p:cNvSpPr>
            <a:spLocks noGrp="1"/>
          </p:cNvSpPr>
          <p:nvPr/>
        </p:nvSpPr>
        <p:spPr>
          <a:xfrm>
            <a:off x="4238625" y="3190875"/>
            <a:ext cx="2238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25 SQL questions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CTEs, joins, windows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Customer-grain checks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84FF1A-6AB3-40D0-A0A9-BB61B5CFFDE6}"/>
              </a:ext>
            </a:extLst>
          </p:cNvPr>
          <p:cNvSpPr>
            <a:spLocks noGrp="1"/>
          </p:cNvSpPr>
          <p:nvPr/>
        </p:nvSpPr>
        <p:spPr>
          <a:xfrm>
            <a:off x="7410450" y="2238375"/>
            <a:ext cx="27622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C64E9-CB13-490A-A055-FD83A7348212}"/>
              </a:ext>
            </a:extLst>
          </p:cNvPr>
          <p:cNvSpPr>
            <a:spLocks noGrp="1"/>
          </p:cNvSpPr>
          <p:nvPr/>
        </p:nvSpPr>
        <p:spPr>
          <a:xfrm>
            <a:off x="7410450" y="2238375"/>
            <a:ext cx="2762250" cy="66675"/>
          </a:xfrm>
          <a:prstGeom prst="rect">
            <a:avLst/>
          </a:prstGeom>
          <a:solidFill>
            <a:srgbClr val="F7901E"/>
          </a:solidFill>
          <a:ln w="0">
            <a:solidFill>
              <a:srgbClr val="F7901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55E429-0557-4A9D-A459-850571271070}"/>
              </a:ext>
            </a:extLst>
          </p:cNvPr>
          <p:cNvSpPr>
            <a:spLocks noGrp="1"/>
          </p:cNvSpPr>
          <p:nvPr/>
        </p:nvSpPr>
        <p:spPr>
          <a:xfrm>
            <a:off x="7639050" y="2619375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3. Communicate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852320-6BBD-4FF4-90FC-85F49768F5E4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238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4 Tableau pages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Focused filters</a:t>
            </a:r>
          </a:p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Decision-ready KPIs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0EB137-ADCF-4054-9DD3-DB424258E045}"/>
              </a:ext>
            </a:extLst>
          </p:cNvPr>
          <p:cNvSpPr>
            <a:spLocks noGrp="1"/>
          </p:cNvSpPr>
          <p:nvPr/>
        </p:nvSpPr>
        <p:spPr>
          <a:xfrm>
            <a:off x="3429000" y="3276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D9DEE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9DEE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0FDE1B-5C04-4D88-879E-C7583CB25857}"/>
              </a:ext>
            </a:extLst>
          </p:cNvPr>
          <p:cNvSpPr>
            <a:spLocks noGrp="1"/>
          </p:cNvSpPr>
          <p:nvPr/>
        </p:nvSpPr>
        <p:spPr>
          <a:xfrm>
            <a:off x="6829425" y="3276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D9DEE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9DEE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7E92BC-8FA1-47B2-A563-D3EAEB83B639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Key modeling rule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AFF714-38CA-4F6A-B59B-C73585C5FF01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04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270"/>
          </a:bodyPr>
          <a:lstStyle/>
          <a:p>
            <a:pPr algn="l">
              <a:defRPr sz="15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Portfolio metrics stay at card grain; customer concentration uses Tableau LOD calculations only where the question requires customer grain.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08ACF3-B6A5-4A99-A198-CEE6DBAA9B5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861F49-584E-4D46-A34A-1B39F9DEE55B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002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5324018-360F-4DF8-B8A8-EB2296AC963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EXECUTIVE PORTFOLIO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D7291-EB88-44DF-AB4F-AADCF7A90C10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The portfolio is large, healthy and predominantly contactless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7EBA4-1DDD-4A59-8E9F-A2000F9524A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Validated against the supplied card-level CSV.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12A67-C508-4EEB-BA22-B6A6268A0159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E15C-EE56-49BF-B28E-E0FB1BE0E996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685800" cy="47625"/>
          </a:xfrm>
          <a:prstGeom prst="rect">
            <a:avLst/>
          </a:prstGeom>
          <a:solidFill>
            <a:srgbClr val="155EEF"/>
          </a:solidFill>
          <a:ln w="0">
            <a:solidFill>
              <a:srgbClr val="155EE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E0ED6-E858-49FE-A0D8-E3A8CF4E2211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32,457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90208-701C-484E-9AE3-C05AFD0F852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cards in the 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2B1F4-2E56-42A3-A704-D8EDA59DDA80}"/>
              </a:ext>
            </a:extLst>
          </p:cNvPr>
          <p:cNvSpPr>
            <a:spLocks noGrp="1"/>
          </p:cNvSpPr>
          <p:nvPr/>
        </p:nvSpPr>
        <p:spPr>
          <a:xfrm>
            <a:off x="3314700" y="2076450"/>
            <a:ext cx="685800" cy="47625"/>
          </a:xfrm>
          <a:prstGeom prst="rect">
            <a:avLst/>
          </a:prstGeom>
          <a:solidFill>
            <a:srgbClr val="4D9C9A"/>
          </a:solidFill>
          <a:ln w="0">
            <a:solidFill>
              <a:srgbClr val="4D9C9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F853FB-7796-4B5C-BA4B-6348B35CA074}"/>
              </a:ext>
            </a:extLst>
          </p:cNvPr>
          <p:cNvSpPr>
            <a:spLocks noGrp="1"/>
          </p:cNvSpPr>
          <p:nvPr/>
        </p:nvSpPr>
        <p:spPr>
          <a:xfrm>
            <a:off x="3314700" y="23050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25,000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3CD976-966A-422B-9841-E94D3FD59391}"/>
              </a:ext>
            </a:extLst>
          </p:cNvPr>
          <p:cNvSpPr>
            <a:spLocks noGrp="1"/>
          </p:cNvSpPr>
          <p:nvPr/>
        </p:nvSpPr>
        <p:spPr>
          <a:xfrm>
            <a:off x="3314700" y="2857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unique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9FC73-E264-4E62-869C-67FBB9D45D89}"/>
              </a:ext>
            </a:extLst>
          </p:cNvPr>
          <p:cNvSpPr>
            <a:spLocks noGrp="1"/>
          </p:cNvSpPr>
          <p:nvPr/>
        </p:nvSpPr>
        <p:spPr>
          <a:xfrm>
            <a:off x="6019800" y="2076450"/>
            <a:ext cx="685800" cy="47625"/>
          </a:xfrm>
          <a:prstGeom prst="rect">
            <a:avLst/>
          </a:prstGeom>
          <a:solidFill>
            <a:srgbClr val="F7901E"/>
          </a:solidFill>
          <a:ln w="0">
            <a:solidFill>
              <a:srgbClr val="F7901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E7E7C-355E-4DD5-9AA9-D9BBCE982D43}"/>
              </a:ext>
            </a:extLst>
          </p:cNvPr>
          <p:cNvSpPr>
            <a:spLocks noGrp="1"/>
          </p:cNvSpPr>
          <p:nvPr/>
        </p:nvSpPr>
        <p:spPr>
          <a:xfrm>
            <a:off x="6019800" y="23050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₹14.44B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5D1370-55B3-4F69-8D47-C08B38AC1389}"/>
              </a:ext>
            </a:extLst>
          </p:cNvPr>
          <p:cNvSpPr>
            <a:spLocks noGrp="1"/>
          </p:cNvSpPr>
          <p:nvPr/>
        </p:nvSpPr>
        <p:spPr>
          <a:xfrm>
            <a:off x="6019800" y="2857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total credit exposure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277B8-CF65-46AA-AB4C-3FA270EF8F07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685800" cy="47625"/>
          </a:xfrm>
          <a:prstGeom prst="rect">
            <a:avLst/>
          </a:prstGeom>
          <a:solidFill>
            <a:srgbClr val="4C76A8"/>
          </a:solidFill>
          <a:ln w="0">
            <a:solidFill>
              <a:srgbClr val="4C76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77D3A-0FCC-4597-A4F7-24677D8DFA4C}"/>
              </a:ext>
            </a:extLst>
          </p:cNvPr>
          <p:cNvSpPr>
            <a:spLocks noGrp="1"/>
          </p:cNvSpPr>
          <p:nvPr/>
        </p:nvSpPr>
        <p:spPr>
          <a:xfrm>
            <a:off x="8724900" y="23050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93.86%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69C5-8BC8-45F0-ABCC-A686BF0274DA}"/>
              </a:ext>
            </a:extLst>
          </p:cNvPr>
          <p:cNvSpPr>
            <a:spLocks noGrp="1"/>
          </p:cNvSpPr>
          <p:nvPr/>
        </p:nvSpPr>
        <p:spPr>
          <a:xfrm>
            <a:off x="8724900" y="2857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active-card rate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300B2D-D25B-42EB-B4B9-95611CBE2697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6572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94C19-2DE2-4A4A-8837-512BA3F4B1EC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Portfolio health at a glance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416B0-2285-435A-B6C8-B7CFE379160D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30,463 active cards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C10EB3-39B1-4E08-A0CA-BDAB1C1DCABB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₹13.53B active exposure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2CBD5-A463-411C-9CFA-89BCADF31805}"/>
              </a:ext>
            </a:extLst>
          </p:cNvPr>
          <p:cNvSpPr>
            <a:spLocks noGrp="1"/>
          </p:cNvSpPr>
          <p:nvPr/>
        </p:nvSpPr>
        <p:spPr>
          <a:xfrm>
            <a:off x="4162425" y="4162425"/>
            <a:ext cx="9525" cy="0"/>
          </a:xfrm>
          <a:prstGeom prst="rect">
            <a:avLst/>
          </a:prstGeom>
          <a:ln w="0"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A4F8C-DE8A-4A32-8C77-36B963849C81}"/>
              </a:ext>
            </a:extLst>
          </p:cNvPr>
          <p:cNvSpPr>
            <a:spLocks noGrp="1"/>
          </p:cNvSpPr>
          <p:nvPr/>
        </p:nvSpPr>
        <p:spPr>
          <a:xfrm>
            <a:off x="4591050" y="430530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4D9C9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4D9C9A"/>
                </a:solidFill>
                <a:latin typeface="Aptos"/>
                <a:ea typeface="Aptos"/>
                <a:cs typeface="Aptos"/>
              </a:rPr>
              <a:t>85.13%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58DB0-0A28-4354-8EC3-C48B7C606008}"/>
              </a:ext>
            </a:extLst>
          </p:cNvPr>
          <p:cNvSpPr>
            <a:spLocks noGrp="1"/>
          </p:cNvSpPr>
          <p:nvPr/>
        </p:nvSpPr>
        <p:spPr>
          <a:xfrm>
            <a:off x="4591050" y="47244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contactless adoption</a:t>
            </a:r>
          </a:p>
          <a:p>
            <a:pPr algn="l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(27,632 cards)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605E9-31E2-4447-A1B3-1AD4AAEB8846}"/>
              </a:ext>
            </a:extLst>
          </p:cNvPr>
          <p:cNvSpPr>
            <a:spLocks noGrp="1"/>
          </p:cNvSpPr>
          <p:nvPr/>
        </p:nvSpPr>
        <p:spPr>
          <a:xfrm>
            <a:off x="7543800" y="3495675"/>
            <a:ext cx="40386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BC9851-F012-47B9-AC1C-E2108A601FCD}"/>
              </a:ext>
            </a:extLst>
          </p:cNvPr>
          <p:cNvSpPr>
            <a:spLocks noGrp="1"/>
          </p:cNvSpPr>
          <p:nvPr/>
        </p:nvSpPr>
        <p:spPr>
          <a:xfrm>
            <a:off x="7810500" y="37814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Network distribution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="7810500" y="4152900"/>
          <a:ext cx="3333750" cy="1381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03639B47-D780-47E5-8B3F-F56D1B1E33B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D9FDE7-E225-4F42-BF3C-B8ADB4570AC2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475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824C799-8E5B-45E8-BA97-9B51CF3A39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CUSTOMER &amp; PRODUCT ANALYTICS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53B438-1108-4E4D-9C2D-9BA9F5AB2A66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Platinum drives 46.3% of portfolio exposure with only 18.7% of cards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7A164A-5771-41E2-8FF0-5B482AE423D1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This concentration is a useful lens for product strategy and exposure management.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8429F-F64C-4AB3-99F7-18643DF52CDF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999F58-A791-430F-B160-1628F43C366D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343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AEB46-56F2-4E56-93AD-8F14A669733B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Credit exposure by card type (₹B)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838200" y="2552700"/>
          <a:ext cx="44767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0602BA-5D20-45FD-B20C-620ED26C0B8D}"/>
              </a:ext>
            </a:extLst>
          </p:cNvPr>
          <p:cNvSpPr>
            <a:spLocks noGrp="1"/>
          </p:cNvSpPr>
          <p:nvPr/>
        </p:nvSpPr>
        <p:spPr>
          <a:xfrm>
            <a:off x="6229350" y="1905000"/>
            <a:ext cx="5353050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13782" r="13782"/>
          <a:stretch>
            <a:fillRect/>
          </a:stretch>
        </p:blipFill>
        <p:spPr>
          <a:xfrm>
            <a:off x="5844048" y="1905000"/>
            <a:ext cx="6123653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C628DD-0B9F-43EF-9618-E0C2B6D74F60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Customer behaviour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F21B06-DCCC-45E3-8B8F-59DBBC26AA1D}"/>
              </a:ext>
            </a:extLst>
          </p:cNvPr>
          <p:cNvSpPr>
            <a:spLocks noGrp="1"/>
          </p:cNvSpPr>
          <p:nvPr/>
        </p:nvSpPr>
        <p:spPr>
          <a:xfrm>
            <a:off x="2447925" y="6086475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6,204 customers (24.8%) hold more than one card; the top 1% of customers account for 4.45% of total exposure.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E39F1-A0C3-4FC7-BAC7-935F88FECAD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314D9-A766-45C4-BADA-3BABDD31382D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392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E90F9A6-F704-48FB-A59F-471A47F78C9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DIGITAL ADOPTION &amp; BEHAVIOUR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1B9E5E-8E82-4820-8FEF-BE2748EC1AA9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Contactless leads; virtual cards are the next opportunity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B4C5C-32B7-4E1B-B5D9-BC6705220C0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The portfolio has high contactless penetration and a stable, lower virtual-card mix.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DCB7B-CA96-4F4B-853E-8669547F751F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79C811-845D-4596-A236-EBE9DC251D7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687705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1518" r="1518"/>
          <a:stretch>
            <a:fillRect/>
          </a:stretch>
        </p:blipFill>
        <p:spPr>
          <a:xfrm>
            <a:off x="723900" y="2066925"/>
            <a:ext cx="6648450" cy="3581400"/>
          </a:xfrm>
          <a:prstGeom prst="roundRect">
            <a:avLst>
              <a:gd name="adj" fmla="val 3191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7E5A5E-F644-4D5D-B669-F0DEE1972EFF}"/>
              </a:ext>
            </a:extLst>
          </p:cNvPr>
          <p:cNvSpPr>
            <a:spLocks noGrp="1"/>
          </p:cNvSpPr>
          <p:nvPr/>
        </p:nvSpPr>
        <p:spPr>
          <a:xfrm>
            <a:off x="7810500" y="1952625"/>
            <a:ext cx="3771900" cy="1733550"/>
          </a:xfrm>
          <a:prstGeom prst="roundRect">
            <a:avLst>
              <a:gd name="adj" fmla="val 6593"/>
            </a:avLst>
          </a:prstGeom>
          <a:solidFill>
            <a:srgbClr val="E7F0FF"/>
          </a:solidFill>
          <a:ln w="0">
            <a:solidFill>
              <a:srgbClr val="E7F0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52795-DACD-4847-B534-06A10F2857C4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85.13%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7AF00A-A8CC-4A14-9352-544AE3A878A4}"/>
              </a:ext>
            </a:extLst>
          </p:cNvPr>
          <p:cNvSpPr>
            <a:spLocks noGrp="1"/>
          </p:cNvSpPr>
          <p:nvPr/>
        </p:nvSpPr>
        <p:spPr>
          <a:xfrm>
            <a:off x="8115300" y="28575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contactless adoption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27,632 contactless cards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E948FF-1E77-4065-8CD3-9D3704BC8F33}"/>
              </a:ext>
            </a:extLst>
          </p:cNvPr>
          <p:cNvSpPr>
            <a:spLocks noGrp="1"/>
          </p:cNvSpPr>
          <p:nvPr/>
        </p:nvSpPr>
        <p:spPr>
          <a:xfrm>
            <a:off x="7810500" y="4029075"/>
            <a:ext cx="3771900" cy="1733550"/>
          </a:xfrm>
          <a:prstGeom prst="roundRect">
            <a:avLst>
              <a:gd name="adj" fmla="val 6593"/>
            </a:avLst>
          </a:prstGeom>
          <a:solidFill>
            <a:srgbClr val="FFF0D6"/>
          </a:solidFill>
          <a:ln w="0">
            <a:solidFill>
              <a:srgbClr val="FFF0D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907CF4-EA0A-4A39-A87E-21389BA02635}"/>
              </a:ext>
            </a:extLst>
          </p:cNvPr>
          <p:cNvSpPr>
            <a:spLocks noGrp="1"/>
          </p:cNvSpPr>
          <p:nvPr/>
        </p:nvSpPr>
        <p:spPr>
          <a:xfrm>
            <a:off x="8115300" y="433387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F7901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901E"/>
                </a:solidFill>
                <a:latin typeface="Aptos"/>
                <a:ea typeface="Aptos"/>
                <a:cs typeface="Aptos"/>
              </a:rPr>
              <a:t>19.87%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4FB991-C87A-422B-A145-8844BAEF7203}"/>
              </a:ext>
            </a:extLst>
          </p:cNvPr>
          <p:cNvSpPr>
            <a:spLocks noGrp="1"/>
          </p:cNvSpPr>
          <p:nvPr/>
        </p:nvSpPr>
        <p:spPr>
          <a:xfrm>
            <a:off x="8115300" y="49339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virtual-card adoption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6,449 virtual cards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E4449C-63A8-4B89-91EA-1A5CA8B9918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573353-08D2-416E-956C-F7B4706F5C7E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7772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E02DBFD-9E1F-47B2-AC84-F7CFD930B1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PORTFOLIO HEALTH &amp; RENEWAL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26651-C9D6-4277-889E-CD04BFEEE5FC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Renewal needs a planned cadence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B26CB-FD1E-491B-AFEE-066CCD3790F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Expiry and inactive balances show where retention and renewal decisions matter.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5CE6E-B8F6-460B-BA52-1DFBC03F9DB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D477EA-2A34-4559-98D1-727606B26C0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8674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8393" r="8393"/>
          <a:stretch>
            <a:fillRect/>
          </a:stretch>
        </p:blipFill>
        <p:spPr>
          <a:xfrm>
            <a:off x="723900" y="2066925"/>
            <a:ext cx="5638800" cy="3581400"/>
          </a:xfrm>
          <a:prstGeom prst="roundRect">
            <a:avLst>
              <a:gd name="adj" fmla="val 3191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8E6936-6B48-45CB-8158-A715CEFB19F4}"/>
              </a:ext>
            </a:extLst>
          </p:cNvPr>
          <p:cNvSpPr>
            <a:spLocks noGrp="1"/>
          </p:cNvSpPr>
          <p:nvPr/>
        </p:nvSpPr>
        <p:spPr>
          <a:xfrm>
            <a:off x="6819900" y="1952625"/>
            <a:ext cx="4762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285BC4-357B-4509-AF7B-373A0AAF0DAA}"/>
              </a:ext>
            </a:extLst>
          </p:cNvPr>
          <p:cNvSpPr>
            <a:spLocks noGrp="1"/>
          </p:cNvSpPr>
          <p:nvPr/>
        </p:nvSpPr>
        <p:spPr>
          <a:xfrm>
            <a:off x="7086600" y="2181225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Expiring exposure by year (₹B)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7048500" y="2571750"/>
          <a:ext cx="4238625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63DD95-8F2E-4178-B568-BFC2FA4858B5}"/>
              </a:ext>
            </a:extLst>
          </p:cNvPr>
          <p:cNvSpPr>
            <a:spLocks noGrp="1"/>
          </p:cNvSpPr>
          <p:nvPr/>
        </p:nvSpPr>
        <p:spPr>
          <a:xfrm>
            <a:off x="6819900" y="4619625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FFF0D6"/>
          </a:solidFill>
          <a:ln w="0">
            <a:solidFill>
              <a:srgbClr val="FFF0D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21E170-E99F-42F0-9742-672D7BB8AF6C}"/>
              </a:ext>
            </a:extLst>
          </p:cNvPr>
          <p:cNvSpPr>
            <a:spLocks noGrp="1"/>
          </p:cNvSpPr>
          <p:nvPr/>
        </p:nvSpPr>
        <p:spPr>
          <a:xfrm>
            <a:off x="7067550" y="48768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262"/>
          </a:bodyPr>
          <a:lstStyle/>
          <a:p>
            <a:pPr algn="l">
              <a:defRPr sz="2100" b="1">
                <a:solidFill>
                  <a:srgbClr val="F7901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901E"/>
                </a:solidFill>
                <a:latin typeface="Aptos"/>
                <a:ea typeface="Aptos"/>
                <a:cs typeface="Aptos"/>
              </a:rPr>
              <a:t>₹1.80B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BECE18-5582-4431-BCC9-6D9098EABF5A}"/>
              </a:ext>
            </a:extLst>
          </p:cNvPr>
          <p:cNvSpPr>
            <a:spLocks noGrp="1"/>
          </p:cNvSpPr>
          <p:nvPr/>
        </p:nvSpPr>
        <p:spPr>
          <a:xfrm>
            <a:off x="7067550" y="5238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2026 expiry exposure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B2BD6E-BA66-47DD-8F76-60CCE8C31C83}"/>
              </a:ext>
            </a:extLst>
          </p:cNvPr>
          <p:cNvSpPr>
            <a:spLocks noGrp="1"/>
          </p:cNvSpPr>
          <p:nvPr/>
        </p:nvSpPr>
        <p:spPr>
          <a:xfrm>
            <a:off x="9296400" y="4619625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FF3F8"/>
          </a:solidFill>
          <a:ln w="0">
            <a:solidFill>
              <a:srgbClr val="EFF3F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0A207C-155C-4AE8-A957-82E146D38A97}"/>
              </a:ext>
            </a:extLst>
          </p:cNvPr>
          <p:cNvSpPr>
            <a:spLocks noGrp="1"/>
          </p:cNvSpPr>
          <p:nvPr/>
        </p:nvSpPr>
        <p:spPr>
          <a:xfrm>
            <a:off x="9544050" y="48768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262"/>
          </a:bodyPr>
          <a:lstStyle/>
          <a:p>
            <a:pPr algn="l">
              <a:defRPr sz="2100" b="1">
                <a:solidFill>
                  <a:srgbClr val="E454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454"/>
                </a:solidFill>
                <a:latin typeface="Aptos"/>
                <a:ea typeface="Aptos"/>
                <a:cs typeface="Aptos"/>
              </a:rPr>
              <a:t>₹0.91B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38A395-F110-4EC0-BF0A-60B546C9A305}"/>
              </a:ext>
            </a:extLst>
          </p:cNvPr>
          <p:cNvSpPr>
            <a:spLocks noGrp="1"/>
          </p:cNvSpPr>
          <p:nvPr/>
        </p:nvSpPr>
        <p:spPr>
          <a:xfrm>
            <a:off x="9544050" y="52387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inactive-card exposure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390014-A8BF-4D35-BA10-66760F67089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8FD899-B2AF-4902-8E3C-4FB2BCA1D1B1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688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19FEF6-A4E0-400C-97AB-2EA6C0BBD23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ANALYTICAL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9E5B5F-ED63-4F5F-9DDD-BEE108E90B8D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19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SQL establishes the evidence; Tableau makes it explorable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F5B8AE-0AFC-4E54-9405-0E17B6AD5E0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The work combines SQL question design, calculated fields and selective customer-level LOD expressions.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3E1A2D-16C1-4B9C-B4E8-39BC98A7811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047CB3-A511-4F3D-9599-DDF7985265BC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000375" cy="33337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B46E3-AD01-4BED-AF88-11B5AE40EC1C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000375" cy="66675"/>
          </a:xfrm>
          <a:prstGeom prst="rect">
            <a:avLst/>
          </a:prstGeom>
          <a:solidFill>
            <a:srgbClr val="155EEF"/>
          </a:solidFill>
          <a:ln w="0">
            <a:solidFill>
              <a:srgbClr val="155EE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48EBA-2164-4C50-8350-AB64A483F95C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SQL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616B8-7CC0-46A9-9488-D84E83B999F1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428875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25 questions across portfolio size, exposure, adoption, inactive balances, expiry and customer concentration.</a:t>
            </a:r>
          </a:p>
          <a:p>
            <a:endParaRPr sz="1275" b="0">
              <a:solidFill>
                <a:srgbClr val="5B6678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Techniques: aggregates, CTEs, CASE logic, LAG and RANK.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C8620D-D2C0-4ED1-84F0-62658DE89473}"/>
              </a:ext>
            </a:extLst>
          </p:cNvPr>
          <p:cNvSpPr>
            <a:spLocks noGrp="1"/>
          </p:cNvSpPr>
          <p:nvPr/>
        </p:nvSpPr>
        <p:spPr>
          <a:xfrm>
            <a:off x="4086225" y="2152650"/>
            <a:ext cx="3000375" cy="33337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F7EB9-7891-4FE4-9FD5-5AEAA2A46A03}"/>
              </a:ext>
            </a:extLst>
          </p:cNvPr>
          <p:cNvSpPr>
            <a:spLocks noGrp="1"/>
          </p:cNvSpPr>
          <p:nvPr/>
        </p:nvSpPr>
        <p:spPr>
          <a:xfrm>
            <a:off x="4086225" y="2152650"/>
            <a:ext cx="3000375" cy="66675"/>
          </a:xfrm>
          <a:prstGeom prst="rect">
            <a:avLst/>
          </a:prstGeom>
          <a:solidFill>
            <a:srgbClr val="4D9C9A"/>
          </a:solidFill>
          <a:ln w="0">
            <a:solidFill>
              <a:srgbClr val="4D9C9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DAEE78-2215-4758-BC7C-09C979C6C70F}"/>
              </a:ext>
            </a:extLst>
          </p:cNvPr>
          <p:cNvSpPr>
            <a:spLocks noGrp="1"/>
          </p:cNvSpPr>
          <p:nvPr/>
        </p:nvSpPr>
        <p:spPr>
          <a:xfrm>
            <a:off x="4333875" y="25717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Tableau modeling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D99279-1F86-4ABF-92D6-962BBDA16904}"/>
              </a:ext>
            </a:extLst>
          </p:cNvPr>
          <p:cNvSpPr>
            <a:spLocks noGrp="1"/>
          </p:cNvSpPr>
          <p:nvPr/>
        </p:nvSpPr>
        <p:spPr>
          <a:xfrm>
            <a:off x="4333875" y="3105150"/>
            <a:ext cx="2428875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Calculated fields for active, inactive, contactless and virtual KPIs.</a:t>
            </a:r>
          </a:p>
          <a:p>
            <a:endParaRPr sz="1275" b="0">
              <a:solidFill>
                <a:srgbClr val="5B6678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LODs used only when grain changes: Cards per Customer and Customer Exposure.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DE4C97-E5AF-4B44-AA67-FF4CD458C2DD}"/>
              </a:ext>
            </a:extLst>
          </p:cNvPr>
          <p:cNvSpPr>
            <a:spLocks noGrp="1"/>
          </p:cNvSpPr>
          <p:nvPr/>
        </p:nvSpPr>
        <p:spPr>
          <a:xfrm>
            <a:off x="7562850" y="2152650"/>
            <a:ext cx="3000375" cy="33337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B9C69-EBF2-4872-AD46-800FA344B2EE}"/>
              </a:ext>
            </a:extLst>
          </p:cNvPr>
          <p:cNvSpPr>
            <a:spLocks noGrp="1"/>
          </p:cNvSpPr>
          <p:nvPr/>
        </p:nvSpPr>
        <p:spPr>
          <a:xfrm>
            <a:off x="7562850" y="2152650"/>
            <a:ext cx="3000375" cy="66675"/>
          </a:xfrm>
          <a:prstGeom prst="rect">
            <a:avLst/>
          </a:prstGeom>
          <a:solidFill>
            <a:srgbClr val="F7901E"/>
          </a:solidFill>
          <a:ln w="0">
            <a:solidFill>
              <a:srgbClr val="F7901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F57E7-BE0C-4BE7-859D-8DFF77200683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Business outputs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11C5C-4539-48C7-9B1A-A1FDF759D08B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428875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Four connected dashboard pages: executive overview, customer &amp; product, digital adoption, and portfolio health &amp; renewal.</a:t>
            </a:r>
          </a:p>
          <a:p>
            <a:endParaRPr sz="1275" b="0">
              <a:solidFill>
                <a:srgbClr val="5B6678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Shared filters preserve exploration context.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28C5A2-E25D-457C-87CF-E59C965445A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4E7F33-F05D-4F3A-9000-BD3DB1AC8367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Validation principle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104263-FA6F-47E7-95A3-3B2EC3E33ED6}"/>
              </a:ext>
            </a:extLst>
          </p:cNvPr>
          <p:cNvSpPr>
            <a:spLocks noGrp="1"/>
          </p:cNvSpPr>
          <p:nvPr/>
        </p:nvSpPr>
        <p:spPr>
          <a:xfrm>
            <a:off x="2343150" y="6067425"/>
            <a:ext cx="809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Core dashboard totals were reconciled back to the card-level data and SQL outputs before the Tableau story was finalized.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8E1058-1746-40A8-BC10-993EB291E84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Credit Card Portfolio &amp; Customer Analytics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C84990-220D-464B-BA90-B2C2A45E01A3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742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5723464-D5D8-436F-BFB6-1CD8A19CBA8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ABOUT THE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AE0B14-BDA3-45E6-8C65-D606985A4835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590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Hari Krishna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4682B-017E-46CE-9809-E6CACEC083F1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Data Analyst | Power BI Developer | MIS &amp; Financial Reporting Analyst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D276A3-F258-43DC-9407-02A724284C4F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10934700" cy="9525"/>
          </a:xfrm>
          <a:prstGeom prst="rect">
            <a:avLst/>
          </a:prstGeom>
          <a:solidFill>
            <a:srgbClr val="D9DEE6"/>
          </a:solidFill>
          <a:ln w="0">
            <a:solidFill>
              <a:srgbClr val="D9DEE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8FFD23-A881-4D67-83A9-514985D9A009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535"/>
          </a:bodyPr>
          <a:lstStyle/>
          <a:p>
            <a:pPr algn="l">
              <a:defRPr sz="202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I build end-to-end analytics solutions - from SQL data modeling and validation to KPI dashboards that make complex business data decision-ready.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589F3B-BD6F-4F65-B0EA-84F42F98BDDD}"/>
              </a:ext>
            </a:extLst>
          </p:cNvPr>
          <p:cNvSpPr>
            <a:spLocks noGrp="1"/>
          </p:cNvSpPr>
          <p:nvPr/>
        </p:nvSpPr>
        <p:spPr>
          <a:xfrm>
            <a:off x="8343900" y="2705100"/>
            <a:ext cx="32194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164D57-B7E1-4776-BCE1-70436CFA8015}"/>
              </a:ext>
            </a:extLst>
          </p:cNvPr>
          <p:cNvSpPr>
            <a:spLocks noGrp="1"/>
          </p:cNvSpPr>
          <p:nvPr/>
        </p:nvSpPr>
        <p:spPr>
          <a:xfrm>
            <a:off x="8648700" y="3019425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Core strengths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BD6C65-BF33-4132-BCD0-5EE27BC233EB}"/>
              </a:ext>
            </a:extLst>
          </p:cNvPr>
          <p:cNvSpPr>
            <a:spLocks noGrp="1"/>
          </p:cNvSpPr>
          <p:nvPr/>
        </p:nvSpPr>
        <p:spPr>
          <a:xfrm>
            <a:off x="8648700" y="3486150"/>
            <a:ext cx="242887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Power BI &amp; Tableau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SQL / PostgreSQL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Power Query &amp; DAX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Python &amp; Excel automation</a:t>
            </a:r>
          </a:p>
          <a:p>
            <a:pPr algn="l">
              <a:defRPr sz="1350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KPI &amp; management reporting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03B6EC-26A9-47D9-A8A8-0AFD9F8FCED5}"/>
              </a:ext>
            </a:extLst>
          </p:cNvPr>
          <p:cNvSpPr>
            <a:spLocks noGrp="1"/>
          </p:cNvSpPr>
          <p:nvPr/>
        </p:nvSpPr>
        <p:spPr>
          <a:xfrm>
            <a:off x="628650" y="55054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4E9C0C-99D3-4A4B-A8A7-ABFD90C7B30B}"/>
              </a:ext>
            </a:extLst>
          </p:cNvPr>
          <p:cNvSpPr>
            <a:spLocks noGrp="1"/>
          </p:cNvSpPr>
          <p:nvPr/>
        </p:nvSpPr>
        <p:spPr>
          <a:xfrm>
            <a:off x="628650" y="58197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hanrajharikrishna@gmail.com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F128C-4D65-4A1D-B8A5-925925A3EAAD}"/>
              </a:ext>
            </a:extLst>
          </p:cNvPr>
          <p:cNvSpPr>
            <a:spLocks noGrp="1"/>
          </p:cNvSpPr>
          <p:nvPr/>
        </p:nvSpPr>
        <p:spPr>
          <a:xfrm>
            <a:off x="628650" y="6115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linkedin.com/in/hari-krishna-178397145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CEA455-6ACA-488B-86C1-78F266F64FF6}"/>
              </a:ext>
            </a:extLst>
          </p:cNvPr>
          <p:cNvSpPr>
            <a:spLocks noGrp="1"/>
          </p:cNvSpPr>
          <p:nvPr/>
        </p:nvSpPr>
        <p:spPr>
          <a:xfrm>
            <a:off x="5105400" y="5819775"/>
            <a:ext cx="3476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E"/>
                </a:solidFill>
                <a:latin typeface="Aptos"/>
                <a:ea typeface="Aptos"/>
                <a:cs typeface="Aptos"/>
              </a:rPr>
              <a:t>github.com/harikrishna-analytics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C452F-3298-4ADD-9876-474D05BDE41E}"/>
              </a:ext>
            </a:extLst>
          </p:cNvPr>
          <p:cNvSpPr>
            <a:spLocks noGrp="1"/>
          </p:cNvSpPr>
          <p:nvPr/>
        </p:nvSpPr>
        <p:spPr>
          <a:xfrm>
            <a:off x="10001250" y="611505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1044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Microsoft Office PowerPoint</Application>
  <DocSecurity>0</DocSecurity>
  <PresentationFormat>Widescreen</PresentationFormat>
  <Paragraphs>143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Hari krishna</cp:lastModifiedBy>
  <cp:revision>1</cp:revision>
  <dcterms:created xsi:type="dcterms:W3CDTF">2026-08-13T15:18:29Z</dcterms:created>
  <dcterms:modified xsi:type="dcterms:W3CDTF">2026-08-14T03:05:42Z</dcterms:modified>
</cp:coreProperties>
</file>